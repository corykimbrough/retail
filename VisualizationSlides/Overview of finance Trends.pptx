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aleway"/>
      <p:regular r:id="rId12"/>
      <p:bold r:id="rId13"/>
      <p:italic r:id="rId14"/>
      <p:boldItalic r:id="rId15"/>
    </p:embeddedFon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aleway-bold.fntdata"/><Relationship Id="rId12" Type="http://schemas.openxmlformats.org/officeDocument/2006/relationships/font" Target="fonts/Ralew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Italic.fntdata"/><Relationship Id="rId14" Type="http://schemas.openxmlformats.org/officeDocument/2006/relationships/font" Target="fonts/Raleway-italic.fntdata"/><Relationship Id="rId17" Type="http://schemas.openxmlformats.org/officeDocument/2006/relationships/font" Target="fonts/Lato-bold.fntdata"/><Relationship Id="rId16" Type="http://schemas.openxmlformats.org/officeDocument/2006/relationships/font" Target="fonts/Lato-regular.fntdata"/><Relationship Id="rId5" Type="http://schemas.openxmlformats.org/officeDocument/2006/relationships/notesMaster" Target="notesMasters/notesMaster1.xml"/><Relationship Id="rId19" Type="http://schemas.openxmlformats.org/officeDocument/2006/relationships/font" Target="fonts/Lato-boldItalic.fntdata"/><Relationship Id="rId6" Type="http://schemas.openxmlformats.org/officeDocument/2006/relationships/slide" Target="slides/slide1.xml"/><Relationship Id="rId18"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c816030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c816030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c8160305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c8160305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 out April and November as highest revenue, Explain what profit margins are and the category performance visual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c8160305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c8160305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c8160305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c8160305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c8160305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c8160305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Overview of finance Trends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5943600" rtl="0" algn="ctr">
              <a:spcBef>
                <a:spcPts val="0"/>
              </a:spcBef>
              <a:spcAft>
                <a:spcPts val="0"/>
              </a:spcAft>
              <a:buNone/>
            </a:pPr>
            <a:r>
              <a:rPr lang="en" sz="2000">
                <a:solidFill>
                  <a:srgbClr val="FFFFFF"/>
                </a:solidFill>
              </a:rPr>
              <a:t>by Cory Kimbrough</a:t>
            </a:r>
            <a:endParaRPr b="1" sz="20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1600"/>
              </a:spcAft>
              <a:buNone/>
            </a:pPr>
            <a:r>
              <a:rPr lang="en" sz="3600">
                <a:solidFill>
                  <a:schemeClr val="dk1"/>
                </a:solidFill>
              </a:rPr>
              <a:t>Where does our profit come? Where does it wane?</a:t>
            </a:r>
            <a:endParaRPr sz="2400"/>
          </a:p>
        </p:txBody>
      </p:sp>
      <p:sp>
        <p:nvSpPr>
          <p:cNvPr id="61" name="Google Shape;61;p14"/>
          <p:cNvSpPr txBox="1"/>
          <p:nvPr>
            <p:ph idx="4294967295" type="title"/>
          </p:nvPr>
        </p:nvSpPr>
        <p:spPr>
          <a:xfrm>
            <a:off x="535775" y="2285000"/>
            <a:ext cx="5197200" cy="2262600"/>
          </a:xfrm>
          <a:prstGeom prst="rect">
            <a:avLst/>
          </a:prstGeom>
        </p:spPr>
        <p:txBody>
          <a:bodyPr anchorCtr="0" anchor="t" bIns="91425" lIns="91425" spcFirstLastPara="1" rIns="91425" wrap="square" tIns="91425">
            <a:normAutofit fontScale="90000"/>
          </a:bodyPr>
          <a:lstStyle/>
          <a:p>
            <a:pPr indent="-309879" lvl="0" marL="457200" rtl="0" algn="l">
              <a:lnSpc>
                <a:spcPct val="115000"/>
              </a:lnSpc>
              <a:spcBef>
                <a:spcPts val="1200"/>
              </a:spcBef>
              <a:spcAft>
                <a:spcPts val="0"/>
              </a:spcAft>
              <a:buSzPct val="100000"/>
              <a:buFont typeface="Arial"/>
              <a:buChar char="●"/>
            </a:pPr>
            <a:r>
              <a:rPr lang="en" sz="1422">
                <a:latin typeface="Arial"/>
                <a:ea typeface="Arial"/>
                <a:cs typeface="Arial"/>
                <a:sym typeface="Arial"/>
              </a:rPr>
              <a:t>Revenue Trends:</a:t>
            </a:r>
            <a:r>
              <a:rPr b="0" lang="en" sz="1422">
                <a:latin typeface="Arial"/>
                <a:ea typeface="Arial"/>
                <a:cs typeface="Arial"/>
                <a:sym typeface="Arial"/>
              </a:rPr>
              <a:t> </a:t>
            </a:r>
            <a:r>
              <a:rPr lang="en" sz="1422">
                <a:latin typeface="Arial"/>
                <a:ea typeface="Arial"/>
                <a:cs typeface="Arial"/>
                <a:sym typeface="Arial"/>
              </a:rPr>
              <a:t>April and November</a:t>
            </a:r>
            <a:r>
              <a:rPr b="0" lang="en" sz="1422">
                <a:latin typeface="Arial"/>
                <a:ea typeface="Arial"/>
                <a:cs typeface="Arial"/>
                <a:sym typeface="Arial"/>
              </a:rPr>
              <a:t> are the highest revenue months</a:t>
            </a:r>
            <a:endParaRPr b="0" sz="1422">
              <a:latin typeface="Arial"/>
              <a:ea typeface="Arial"/>
              <a:cs typeface="Arial"/>
              <a:sym typeface="Arial"/>
            </a:endParaRPr>
          </a:p>
          <a:p>
            <a:pPr indent="-309879" lvl="0" marL="457200" rtl="0" algn="l">
              <a:lnSpc>
                <a:spcPct val="115000"/>
              </a:lnSpc>
              <a:spcBef>
                <a:spcPts val="0"/>
              </a:spcBef>
              <a:spcAft>
                <a:spcPts val="0"/>
              </a:spcAft>
              <a:buSzPct val="100000"/>
              <a:buFont typeface="Arial"/>
              <a:buChar char="●"/>
            </a:pPr>
            <a:r>
              <a:rPr lang="en" sz="1422">
                <a:latin typeface="Arial"/>
                <a:ea typeface="Arial"/>
                <a:cs typeface="Arial"/>
                <a:sym typeface="Arial"/>
              </a:rPr>
              <a:t>Customer Value:</a:t>
            </a:r>
            <a:r>
              <a:rPr b="0" lang="en" sz="1422">
                <a:latin typeface="Arial"/>
                <a:ea typeface="Arial"/>
                <a:cs typeface="Arial"/>
                <a:sym typeface="Arial"/>
              </a:rPr>
              <a:t> </a:t>
            </a:r>
            <a:r>
              <a:rPr lang="en" sz="1422">
                <a:latin typeface="Arial"/>
                <a:ea typeface="Arial"/>
                <a:cs typeface="Arial"/>
                <a:sym typeface="Arial"/>
              </a:rPr>
              <a:t>Top 5%</a:t>
            </a:r>
            <a:r>
              <a:rPr b="0" lang="en" sz="1422">
                <a:latin typeface="Arial"/>
                <a:ea typeface="Arial"/>
                <a:cs typeface="Arial"/>
                <a:sym typeface="Arial"/>
              </a:rPr>
              <a:t> of customers contribute approximately 35% of total revenue</a:t>
            </a:r>
            <a:endParaRPr b="0" sz="1422">
              <a:latin typeface="Arial"/>
              <a:ea typeface="Arial"/>
              <a:cs typeface="Arial"/>
              <a:sym typeface="Arial"/>
            </a:endParaRPr>
          </a:p>
          <a:p>
            <a:pPr indent="-309879" lvl="0" marL="457200" rtl="0" algn="l">
              <a:lnSpc>
                <a:spcPct val="115000"/>
              </a:lnSpc>
              <a:spcBef>
                <a:spcPts val="0"/>
              </a:spcBef>
              <a:spcAft>
                <a:spcPts val="0"/>
              </a:spcAft>
              <a:buSzPct val="100000"/>
              <a:buFont typeface="Arial"/>
              <a:buChar char="●"/>
            </a:pPr>
            <a:r>
              <a:rPr lang="en" sz="1422">
                <a:latin typeface="Arial"/>
                <a:ea typeface="Arial"/>
                <a:cs typeface="Arial"/>
                <a:sym typeface="Arial"/>
              </a:rPr>
              <a:t>Product Profitability:</a:t>
            </a:r>
            <a:r>
              <a:rPr b="0" lang="en" sz="1422">
                <a:latin typeface="Arial"/>
                <a:ea typeface="Arial"/>
                <a:cs typeface="Arial"/>
                <a:sym typeface="Arial"/>
              </a:rPr>
              <a:t> </a:t>
            </a:r>
            <a:r>
              <a:rPr lang="en" sz="1422">
                <a:latin typeface="Arial"/>
                <a:ea typeface="Arial"/>
                <a:cs typeface="Arial"/>
                <a:sym typeface="Arial"/>
              </a:rPr>
              <a:t>Electronics</a:t>
            </a:r>
            <a:r>
              <a:rPr b="0" lang="en" sz="1422">
                <a:latin typeface="Arial"/>
                <a:ea typeface="Arial"/>
                <a:cs typeface="Arial"/>
                <a:sym typeface="Arial"/>
              </a:rPr>
              <a:t> generate the highest profit margins</a:t>
            </a:r>
            <a:endParaRPr b="0" sz="1422">
              <a:latin typeface="Arial"/>
              <a:ea typeface="Arial"/>
              <a:cs typeface="Arial"/>
              <a:sym typeface="Arial"/>
            </a:endParaRPr>
          </a:p>
          <a:p>
            <a:pPr indent="-309879" lvl="0" marL="457200" rtl="0" algn="l">
              <a:lnSpc>
                <a:spcPct val="115000"/>
              </a:lnSpc>
              <a:spcBef>
                <a:spcPts val="0"/>
              </a:spcBef>
              <a:spcAft>
                <a:spcPts val="0"/>
              </a:spcAft>
              <a:buSzPct val="100000"/>
              <a:buFont typeface="Arial"/>
              <a:buChar char="●"/>
            </a:pPr>
            <a:r>
              <a:rPr lang="en" sz="1422">
                <a:latin typeface="Arial"/>
                <a:ea typeface="Arial"/>
                <a:cs typeface="Arial"/>
                <a:sym typeface="Arial"/>
              </a:rPr>
              <a:t>Customer Retention: Repeat customers spend 2–3x more</a:t>
            </a:r>
            <a:r>
              <a:rPr b="0" lang="en" sz="1422">
                <a:latin typeface="Arial"/>
                <a:ea typeface="Arial"/>
                <a:cs typeface="Arial"/>
                <a:sym typeface="Arial"/>
              </a:rPr>
              <a:t> than first-time buyers </a:t>
            </a:r>
            <a:endParaRPr b="0" sz="1422">
              <a:latin typeface="Arial"/>
              <a:ea typeface="Arial"/>
              <a:cs typeface="Arial"/>
              <a:sym typeface="Arial"/>
            </a:endParaRPr>
          </a:p>
          <a:p>
            <a:pPr indent="-309879" lvl="0" marL="457200" rtl="0" algn="l">
              <a:lnSpc>
                <a:spcPct val="115000"/>
              </a:lnSpc>
              <a:spcBef>
                <a:spcPts val="0"/>
              </a:spcBef>
              <a:spcAft>
                <a:spcPts val="0"/>
              </a:spcAft>
              <a:buSzPct val="100000"/>
              <a:buFont typeface="Arial"/>
              <a:buChar char="●"/>
            </a:pPr>
            <a:r>
              <a:rPr lang="en" sz="1422">
                <a:latin typeface="Arial"/>
                <a:ea typeface="Arial"/>
                <a:cs typeface="Arial"/>
                <a:sym typeface="Arial"/>
              </a:rPr>
              <a:t>Cohort Analysis:</a:t>
            </a:r>
            <a:r>
              <a:rPr b="0" lang="en" sz="1422">
                <a:latin typeface="Arial"/>
                <a:ea typeface="Arial"/>
                <a:cs typeface="Arial"/>
                <a:sym typeface="Arial"/>
              </a:rPr>
              <a:t> Retention and revenue drop significantly after month 2 for most cohorts</a:t>
            </a:r>
            <a:endParaRPr b="0" sz="1422">
              <a:latin typeface="Arial"/>
              <a:ea typeface="Arial"/>
              <a:cs typeface="Arial"/>
              <a:sym typeface="Arial"/>
            </a:endParaRPr>
          </a:p>
          <a:p>
            <a:pPr indent="0" lvl="0" marL="0" rtl="0" algn="l">
              <a:lnSpc>
                <a:spcPct val="115000"/>
              </a:lnSpc>
              <a:spcBef>
                <a:spcPts val="1200"/>
              </a:spcBef>
              <a:spcAft>
                <a:spcPts val="1600"/>
              </a:spcAft>
              <a:buNone/>
            </a:pPr>
            <a:r>
              <a:t/>
            </a:r>
            <a:endParaRPr b="0" sz="1800">
              <a:latin typeface="Lato"/>
              <a:ea typeface="Lato"/>
              <a:cs typeface="Lato"/>
              <a:sym typeface="Lato"/>
            </a:endParaRPr>
          </a:p>
        </p:txBody>
      </p:sp>
      <p:pic>
        <p:nvPicPr>
          <p:cNvPr id="62" name="Google Shape;62;p14"/>
          <p:cNvPicPr preferRelativeResize="0"/>
          <p:nvPr/>
        </p:nvPicPr>
        <p:blipFill>
          <a:blip r:embed="rId3">
            <a:alphaModFix/>
          </a:blip>
          <a:stretch>
            <a:fillRect/>
          </a:stretch>
        </p:blipFill>
        <p:spPr>
          <a:xfrm>
            <a:off x="5914700" y="2733925"/>
            <a:ext cx="3106225" cy="2148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8" name="Google Shape;68;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69" name="Google Shape;69;p15"/>
          <p:cNvPicPr preferRelativeResize="0"/>
          <p:nvPr/>
        </p:nvPicPr>
        <p:blipFill>
          <a:blip r:embed="rId3">
            <a:alphaModFix/>
          </a:blip>
          <a:stretch>
            <a:fillRect/>
          </a:stretch>
        </p:blipFill>
        <p:spPr>
          <a:xfrm>
            <a:off x="0" y="0"/>
            <a:ext cx="9144000"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0" y="1412025"/>
            <a:ext cx="8520600" cy="329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900"/>
              <a:t>boost profits: focus on electronics sales where it has the biggest profit margin. </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rPr b="1" lang="en" sz="1900"/>
              <a:t>focus on retaining customers: especially on attracting/retaining the big spenders as the top 5% give us a large 35% portion of our revenue.</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rPr b="1" lang="en" sz="1900"/>
              <a:t>Advertise extensively around the highest revenue times (to maximize our efforts).</a:t>
            </a:r>
            <a:endParaRPr b="1" sz="1900"/>
          </a:p>
          <a:p>
            <a:pPr indent="0" lvl="0" marL="0" rtl="0" algn="l">
              <a:spcBef>
                <a:spcPts val="0"/>
              </a:spcBef>
              <a:spcAft>
                <a:spcPts val="0"/>
              </a:spcAft>
              <a:buNone/>
            </a:pPr>
            <a:r>
              <a:t/>
            </a:r>
            <a:endParaRPr b="1" sz="1900"/>
          </a:p>
          <a:p>
            <a:pPr indent="0" lvl="0" marL="0" rtl="0" algn="l">
              <a:spcBef>
                <a:spcPts val="0"/>
              </a:spcBef>
              <a:spcAft>
                <a:spcPts val="0"/>
              </a:spcAft>
              <a:buNone/>
            </a:pPr>
            <a:r>
              <a:rPr b="1" lang="en" sz="1900"/>
              <a:t>Spend research efforts to </a:t>
            </a:r>
            <a:r>
              <a:rPr b="1" lang="en" sz="1900"/>
              <a:t>determines</a:t>
            </a:r>
            <a:r>
              <a:rPr b="1" lang="en" sz="1900"/>
              <a:t> why customers are weakening their spending after the initial period (survey, analysis).</a:t>
            </a:r>
            <a:endParaRPr/>
          </a:p>
        </p:txBody>
      </p:sp>
      <p:sp>
        <p:nvSpPr>
          <p:cNvPr id="75" name="Google Shape;75;p16"/>
          <p:cNvSpPr txBox="1"/>
          <p:nvPr/>
        </p:nvSpPr>
        <p:spPr>
          <a:xfrm>
            <a:off x="3072000" y="704050"/>
            <a:ext cx="4391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t>R</a:t>
            </a:r>
            <a:r>
              <a:rPr b="1" lang="en" sz="3000"/>
              <a:t>ecommendations</a:t>
            </a:r>
            <a:endParaRPr b="1" sz="3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ctrTitle"/>
          </p:nvPr>
        </p:nvSpPr>
        <p:spPr>
          <a:xfrm>
            <a:off x="311700" y="111475"/>
            <a:ext cx="8520600" cy="1124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Questions:</a:t>
            </a:r>
            <a:endParaRPr/>
          </a:p>
        </p:txBody>
      </p:sp>
      <p:sp>
        <p:nvSpPr>
          <p:cNvPr id="81" name="Google Shape;81;p17"/>
          <p:cNvSpPr txBox="1"/>
          <p:nvPr/>
        </p:nvSpPr>
        <p:spPr>
          <a:xfrm>
            <a:off x="0" y="1539150"/>
            <a:ext cx="91440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chemeClr val="dk1"/>
                </a:solidFill>
              </a:rPr>
              <a:t>W</a:t>
            </a:r>
            <a:r>
              <a:rPr b="1" lang="en" sz="1900">
                <a:solidFill>
                  <a:schemeClr val="dk1"/>
                </a:solidFill>
              </a:rPr>
              <a:t>hat exactly is making spending weaken after the first couple of months? (is there any interaction data?)</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rPr b="1" lang="en" sz="1900">
                <a:solidFill>
                  <a:schemeClr val="dk1"/>
                </a:solidFill>
              </a:rPr>
              <a:t>Is the revenue trend expected to be high for next April and November? If so, efforts should be put into more advertising and promotions centered around these times to maximize sales per advertising dollar spent. How can we confirm this? (more research, industry historical data highlights November and </a:t>
            </a:r>
            <a:r>
              <a:rPr b="1" i="1" lang="en" sz="1900">
                <a:solidFill>
                  <a:schemeClr val="dk1"/>
                </a:solidFill>
              </a:rPr>
              <a:t>December </a:t>
            </a:r>
            <a:r>
              <a:rPr b="1" lang="en" sz="1900">
                <a:solidFill>
                  <a:schemeClr val="dk1"/>
                </a:solidFill>
              </a:rPr>
              <a:t>as prime months for higher sales volume)</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rPr b="1" lang="en" sz="1900">
                <a:solidFill>
                  <a:schemeClr val="dk1"/>
                </a:solidFill>
              </a:rPr>
              <a:t>How can we increase repeat-business opportunities? (churn analysis?)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rPr b="1" lang="en" sz="1900">
                <a:solidFill>
                  <a:schemeClr val="dk1"/>
                </a:solidFill>
              </a:rPr>
              <a:t>How can we keep and attract high-spending clientele? (survey?)</a:t>
            </a:r>
            <a:endParaRPr b="1" sz="1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5" name="Shape 85"/>
        <p:cNvGrpSpPr/>
        <p:nvPr/>
      </p:nvGrpSpPr>
      <p:grpSpPr>
        <a:xfrm>
          <a:off x="0" y="0"/>
          <a:ext cx="0" cy="0"/>
          <a:chOff x="0" y="0"/>
          <a:chExt cx="0" cy="0"/>
        </a:xfrm>
      </p:grpSpPr>
      <p:pic>
        <p:nvPicPr>
          <p:cNvPr id="86" name="Google Shape;86;p18"/>
          <p:cNvPicPr preferRelativeResize="0"/>
          <p:nvPr/>
        </p:nvPicPr>
        <p:blipFill>
          <a:blip r:embed="rId3">
            <a:alphaModFix/>
          </a:blip>
          <a:stretch>
            <a:fillRect/>
          </a:stretch>
        </p:blipFill>
        <p:spPr>
          <a:xfrm>
            <a:off x="2444700" y="162737"/>
            <a:ext cx="4254600" cy="4818038"/>
          </a:xfrm>
          <a:prstGeom prst="rect">
            <a:avLst/>
          </a:prstGeom>
          <a:noFill/>
          <a:ln>
            <a:noFill/>
          </a:ln>
        </p:spPr>
      </p:pic>
      <p:sp>
        <p:nvSpPr>
          <p:cNvPr id="87" name="Google Shape;87;p18"/>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000">
                <a:solidFill>
                  <a:schemeClr val="dk1"/>
                </a:solidFill>
              </a:rPr>
              <a:t>Thank you!</a:t>
            </a:r>
            <a:endParaRPr sz="3000">
              <a:solidFill>
                <a:schemeClr val="dk1"/>
              </a:solidFill>
            </a:endParaRPr>
          </a:p>
        </p:txBody>
      </p:sp>
      <p:sp>
        <p:nvSpPr>
          <p:cNvPr id="88" name="Google Shape;88;p18"/>
          <p:cNvSpPr txBox="1"/>
          <p:nvPr>
            <p:ph idx="4294967295" type="body"/>
          </p:nvPr>
        </p:nvSpPr>
        <p:spPr>
          <a:xfrm>
            <a:off x="2855550" y="1842275"/>
            <a:ext cx="3432900" cy="16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en" sz="1200">
                <a:latin typeface="Raleway"/>
                <a:ea typeface="Raleway"/>
                <a:cs typeface="Raleway"/>
                <a:sym typeface="Raleway"/>
              </a:rPr>
              <a:t>We appreciate you! Please feel free to offer any input or ask any questions as you would like. We love to hear new ideas and perspectives.</a:t>
            </a:r>
            <a:endParaRPr sz="1200">
              <a:latin typeface="Raleway"/>
              <a:ea typeface="Raleway"/>
              <a:cs typeface="Raleway"/>
              <a:sym typeface="Raleway"/>
            </a:endParaRPr>
          </a:p>
          <a:p>
            <a:pPr indent="0" lvl="0" marL="0" rtl="0" algn="l">
              <a:spcBef>
                <a:spcPts val="1200"/>
              </a:spcBef>
              <a:spcAft>
                <a:spcPts val="1200"/>
              </a:spcAft>
              <a:buNone/>
            </a:pPr>
            <a:r>
              <a:t/>
            </a:r>
            <a:endParaRPr sz="1200" u="sng">
              <a:solidFill>
                <a:schemeClr val="dk1"/>
              </a:solidFill>
              <a:latin typeface="Raleway"/>
              <a:ea typeface="Raleway"/>
              <a:cs typeface="Raleway"/>
              <a:sym typeface="Raleway"/>
            </a:endParaRPr>
          </a:p>
        </p:txBody>
      </p:sp>
      <p:sp>
        <p:nvSpPr>
          <p:cNvPr id="89" name="Google Shape;89;p18"/>
          <p:cNvSpPr txBox="1"/>
          <p:nvPr/>
        </p:nvSpPr>
        <p:spPr>
          <a:xfrm>
            <a:off x="2855550" y="3495513"/>
            <a:ext cx="2103000" cy="1012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2"/>
                </a:solidFill>
                <a:latin typeface="Raleway"/>
                <a:ea typeface="Raleway"/>
                <a:cs typeface="Raleway"/>
                <a:sym typeface="Raleway"/>
              </a:rPr>
              <a:t>We should be working smarter, not harder! Your ideas and inputs help us become better.</a:t>
            </a:r>
            <a:endParaRPr sz="1200">
              <a:solidFill>
                <a:schemeClr val="dk2"/>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